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165b8818d74c86" /><Relationship Type="http://schemas.openxmlformats.org/officeDocument/2006/relationships/extended-properties" Target="/docProps/app.xml" Id="R8ad2b4e6efc14848" /><Relationship Type="http://schemas.openxmlformats.org/officeDocument/2006/relationships/officeDocument" Target="/ppt/presentation.xml" Id="R8b40630d8fce4b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7df85026fb470a"/>
  </p:sldMasterIdLst>
  <p:notesMasterIdLst>
    <p:notesMasterId xmlns:r="http://schemas.openxmlformats.org/officeDocument/2006/relationships" r:id="R41cfbc2315424f6b"/>
  </p:notesMasterIdLst>
  <p:sldIdLst>
    <p:sldId xmlns:r="http://schemas.openxmlformats.org/officeDocument/2006/relationships" id="256" r:id="Rbc9d2e61e6274f23"/>
    <p:sldId xmlns:r="http://schemas.openxmlformats.org/officeDocument/2006/relationships" id="257" r:id="R7f8d6fa5b51d478e"/>
    <p:sldId xmlns:r="http://schemas.openxmlformats.org/officeDocument/2006/relationships" id="258" r:id="Rc70c365e4f314976"/>
    <p:sldId xmlns:r="http://schemas.openxmlformats.org/officeDocument/2006/relationships" id="259" r:id="Rf4a46fd742d242e7"/>
    <p:sldId xmlns:r="http://schemas.openxmlformats.org/officeDocument/2006/relationships" id="260" r:id="Rfa43fe65522245d0"/>
    <p:sldId xmlns:r="http://schemas.openxmlformats.org/officeDocument/2006/relationships" id="261" r:id="R854610c69fb54344"/>
    <p:sldId xmlns:r="http://schemas.openxmlformats.org/officeDocument/2006/relationships" id="262" r:id="R73224ada157349aa"/>
    <p:sldId xmlns:r="http://schemas.openxmlformats.org/officeDocument/2006/relationships" id="263" r:id="R9a1ad0f3622d42e1"/>
    <p:sldId xmlns:r="http://schemas.openxmlformats.org/officeDocument/2006/relationships" id="264" r:id="R3a7699d75f4a415d"/>
    <p:sldId xmlns:r="http://schemas.openxmlformats.org/officeDocument/2006/relationships" id="265" r:id="R615d9c69be9441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c07795499b4475" /><Relationship Type="http://schemas.openxmlformats.org/officeDocument/2006/relationships/slideMaster" Target="/ppt/slideMasters/slideMaster1.xml" Id="R307df85026fb470a" /><Relationship Type="http://schemas.openxmlformats.org/officeDocument/2006/relationships/notesMaster" Target="/ppt/notesMasters/notesMaster1.xml" Id="R41cfbc2315424f6b" /><Relationship Type="http://schemas.openxmlformats.org/officeDocument/2006/relationships/presProps" Target="/ppt/presProps.xml" Id="R981fa608a2614ef1" /><Relationship Type="http://schemas.openxmlformats.org/officeDocument/2006/relationships/tableStyles" Target="/ppt/tableStyles.xml" Id="Rcfccffe3e9e6464f" /><Relationship Type="http://schemas.openxmlformats.org/officeDocument/2006/relationships/slide" Target="/ppt/slides/slide1.xml" Id="Rbc9d2e61e6274f23" /><Relationship Type="http://schemas.openxmlformats.org/officeDocument/2006/relationships/slide" Target="/ppt/slides/slide2.xml" Id="R7f8d6fa5b51d478e" /><Relationship Type="http://schemas.openxmlformats.org/officeDocument/2006/relationships/slide" Target="/ppt/slides/slide3.xml" Id="Rc70c365e4f314976" /><Relationship Type="http://schemas.openxmlformats.org/officeDocument/2006/relationships/slide" Target="/ppt/slides/slide4.xml" Id="Rf4a46fd742d242e7" /><Relationship Type="http://schemas.openxmlformats.org/officeDocument/2006/relationships/slide" Target="/ppt/slides/slide5.xml" Id="Rfa43fe65522245d0" /><Relationship Type="http://schemas.openxmlformats.org/officeDocument/2006/relationships/slide" Target="/ppt/slides/slide6.xml" Id="R854610c69fb54344" /><Relationship Type="http://schemas.openxmlformats.org/officeDocument/2006/relationships/slide" Target="/ppt/slides/slide7.xml" Id="R73224ada157349aa" /><Relationship Type="http://schemas.openxmlformats.org/officeDocument/2006/relationships/slide" Target="/ppt/slides/slide8.xml" Id="R9a1ad0f3622d42e1" /><Relationship Type="http://schemas.openxmlformats.org/officeDocument/2006/relationships/slide" Target="/ppt/slides/slide9.xml" Id="R3a7699d75f4a415d" /><Relationship Type="http://schemas.openxmlformats.org/officeDocument/2006/relationships/slide" Target="/ppt/slides/slide10.xml" Id="R615d9c69be9441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0429d8b9db4a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4fa06ca9e6417a" /><Relationship Type="http://schemas.openxmlformats.org/officeDocument/2006/relationships/notesMaster" Target="/ppt/notesMasters/notesMaster1.xml" Id="Rfe397474600c4d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478522be944926" /><Relationship Type="http://schemas.openxmlformats.org/officeDocument/2006/relationships/notesMaster" Target="/ppt/notesMasters/notesMaster1.xml" Id="R7485050486164b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a09045da8e48d3" /><Relationship Type="http://schemas.openxmlformats.org/officeDocument/2006/relationships/notesMaster" Target="/ppt/notesMasters/notesMaster1.xml" Id="Rea631b67709d44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9495f2eacb4d4b" /><Relationship Type="http://schemas.openxmlformats.org/officeDocument/2006/relationships/notesMaster" Target="/ppt/notesMasters/notesMaster1.xml" Id="R8ba3217f4bc04c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75f0c20de1488d" /><Relationship Type="http://schemas.openxmlformats.org/officeDocument/2006/relationships/notesMaster" Target="/ppt/notesMasters/notesMaster1.xml" Id="Rb3c864e838f94e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f84c6e71784bc4" /><Relationship Type="http://schemas.openxmlformats.org/officeDocument/2006/relationships/notesMaster" Target="/ppt/notesMasters/notesMaster1.xml" Id="Rb22c806a07694f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97828cab904f0f" /><Relationship Type="http://schemas.openxmlformats.org/officeDocument/2006/relationships/notesMaster" Target="/ppt/notesMasters/notesMaster1.xml" Id="R46503968af924e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526a4c1afe4251" /><Relationship Type="http://schemas.openxmlformats.org/officeDocument/2006/relationships/notesMaster" Target="/ppt/notesMasters/notesMaster1.xml" Id="Re6ba308f07a94e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b58def15a549aa" /><Relationship Type="http://schemas.openxmlformats.org/officeDocument/2006/relationships/notesMaster" Target="/ppt/notesMasters/notesMaster1.xml" Id="R115f8c32490144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f9fce83af049d6" /><Relationship Type="http://schemas.openxmlformats.org/officeDocument/2006/relationships/notesMaster" Target="/ppt/notesMasters/notesMaster1.xml" Id="Rf3dd4fd080464a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afe1dcca34b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71535e9bdf47b5" /><Relationship Type="http://schemas.openxmlformats.org/officeDocument/2006/relationships/slideLayout" Target="/ppt/slideLayouts/slideLayout1.xml" Id="R651123602d4345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1123602d4345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c26851d0e4352" /><Relationship Type="http://schemas.openxmlformats.org/officeDocument/2006/relationships/image" Target="/ppt/media/image.jpeg" Id="Recf5eece73ba4cf8" /><Relationship Type="http://schemas.openxmlformats.org/officeDocument/2006/relationships/notesSlide" Target="/ppt/notesSlides/notesSlide1.xml" Id="Rfe4023df49994e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46ed607f24485" /><Relationship Type="http://schemas.openxmlformats.org/officeDocument/2006/relationships/notesSlide" Target="/ppt/notesSlides/notesSlide2.xml" Id="Rca41f6a04ef6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aeed4a9984e3c" /><Relationship Type="http://schemas.openxmlformats.org/officeDocument/2006/relationships/notesSlide" Target="/ppt/notesSlides/notesSlide3.xml" Id="R19e49f0dff8b42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fe9d7fa5e4f5c" /><Relationship Type="http://schemas.openxmlformats.org/officeDocument/2006/relationships/image" Target="/ppt/media/image.png" Id="R876f8777b78545c6" /><Relationship Type="http://schemas.openxmlformats.org/officeDocument/2006/relationships/notesSlide" Target="/ppt/notesSlides/notesSlide4.xml" Id="R466d4f6293a64f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af7ed884c4de1" /><Relationship Type="http://schemas.openxmlformats.org/officeDocument/2006/relationships/notesSlide" Target="/ppt/notesSlides/notesSlide5.xml" Id="R06d54c20fd2241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37b8e40de4250" /><Relationship Type="http://schemas.openxmlformats.org/officeDocument/2006/relationships/image" Target="/ppt/media/image2.jpeg" Id="Rf93460e9aaf5456f" /><Relationship Type="http://schemas.openxmlformats.org/officeDocument/2006/relationships/notesSlide" Target="/ppt/notesSlides/notesSlide6.xml" Id="R698bc6c3ebc144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049c0c7ec4da5" /><Relationship Type="http://schemas.openxmlformats.org/officeDocument/2006/relationships/notesSlide" Target="/ppt/notesSlides/notesSlide7.xml" Id="R2aa77ebea9d447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0e9814cb04168" /><Relationship Type="http://schemas.openxmlformats.org/officeDocument/2006/relationships/notesSlide" Target="/ppt/notesSlides/notesSlide8.xml" Id="Rbcad96f54fd944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02a8c06684ed0" /><Relationship Type="http://schemas.openxmlformats.org/officeDocument/2006/relationships/notesSlide" Target="/ppt/notesSlides/notesSlide9.xml" Id="R1daa10800cdc4f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347fc97cc4251" /><Relationship Type="http://schemas.openxmlformats.org/officeDocument/2006/relationships/notesSlide" Target="/ppt/notesSlides/notesSlide10.xml" Id="Rd1b4fbe820ab4f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5eece73ba4cf8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5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E7239-CC18-498A-844C-1BDF8CE0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B055D-429F-4504-B7FD-1F93E9B0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662EF-DA8C-4021-804A-2CD66013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WHY METADATA LINEAGE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77C6C-D704-4883-9B28-D3841DF9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0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374151"/>
                </a:solidFill>
              </a:defRPr>
            </a:pPr>
            <a:r>
              <a:rPr sz="1050">
                <a:solidFill>
                  <a:srgbClr val="374151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BB487-C388-456F-B073-2E9E24C1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Enterprise data lakes can store large volumes of data, but the context around those datasets is scattered.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D4E6A-2677-4085-B6E4-495A8A6D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CFB43-CE7D-4276-86D5-9E374349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Fragmented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2F772-2C1D-4198-B84C-C35FFA4A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609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Schemas, storage paths, topics, and pipeline context are hard to inspect in one place.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5491D-C7AC-40D7-93DB-F53C0E7C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B838C-ADEE-4424-9DFB-DEB55417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24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Relationship complexity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E37C5-C7BE-4206-AC2D-0C2316EE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05150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Traditional tables are awkward for dynamic relationships between datasets, processes, runs, and columns.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5F5A6-28CC-4BCC-A85A-340C3295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40D98-16D4-4B2D-8D4A-5B6B05BF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Lineage blindspot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EF117-C01A-4705-9DE7-E5DF608D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Without run-level evidence, it is difficult to prove when a schema changed and which run caused it.</a:t>
            </a:r>
          </a:p>
        </p:txBody>
      </p:sp>
    </p:spTree>
    <p:extLst>
      <p:ext uri="{BB962C8B-B14F-4D97-AF65-F5344CB8AC3E}">
        <p14:creationId xmlns:p14="http://schemas.microsoft.com/office/powerpoint/2010/main" val="688009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56EA41-347D-42D7-86EA-64EBF7BF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8C59A-D3A5-41EB-8700-72D92852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73AF6-7693-450B-A89A-46081AA7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THE TESTBED TURNS PIPELINE ACTIVITY INTO A QUERYABLE 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2C8B8-838C-4BD4-B815-F93181E8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0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374151"/>
                </a:solidFill>
              </a:defRPr>
            </a:pPr>
            <a:r>
              <a:rPr sz="1050">
                <a:solidFill>
                  <a:srgbClr val="374151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744F1-930B-4713-8F79-1BA319C1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Project objective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1B5F5-7BCD-4981-9935-9DD8F6AD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90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Automatically extract dataset schemas from lakehouse files, model them as RDF knowledge graph entities, and use OpenLineage/Marquez to trace runs and schema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23FCD-6BBF-4D48-B89C-021B357E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49D74-6B60-42B8-BD44-9D4AC64D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Metadata 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46E19-9038-414B-B927-BFC3F733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Read Parquet files from MinIO and extract columns, data types, row counts, and null counts.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9DCC0-14A9-4C1B-872A-935AE956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E86A4-DF9B-461B-B977-DD0FE88A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814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Knowledge 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AA9C2-CF8F-403F-B57E-F92603B9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6240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Map datasets, columns, storage systems, and metadata collections into RDF and load them into GraphDB.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DC5F-5C87-4981-B97A-3FD2281C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53969-02DC-4A3F-8F57-0F6A0BA2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Lineage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7C010-2A0D-4D1F-9289-921F5DED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Capture OpenLineage events in Marquez and export compact SchemaChange nodes into GraphDB.</a:t>
            </a:r>
          </a:p>
        </p:txBody>
      </p:sp>
    </p:spTree>
    <p:extLst>
      <p:ext uri="{BB962C8B-B14F-4D97-AF65-F5344CB8AC3E}">
        <p14:creationId xmlns:p14="http://schemas.microsoft.com/office/powerpoint/2010/main" val="1812039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B6B1A1-B408-480B-9B62-1980718D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B16CE-3013-4F97-9CD1-C7182AC6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F5750-8A73-4DAE-8F28-8E82CBEC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END-TO-END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354D6-6693-42C6-8F49-BCAB362A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0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374151"/>
                </a:solidFill>
              </a:defRPr>
            </a:pPr>
            <a:r>
              <a:rPr sz="1050">
                <a:solidFill>
                  <a:srgbClr val="374151"/>
                </a:solidFill>
              </a:rPr>
              <a:t>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f8777b78545c6"/>
          <a:stretch xmlns:a="http://schemas.openxmlformats.org/drawingml/2006/main"/>
        </p:blipFill>
        <p:spPr>
          <a:xfrm xmlns:a="http://schemas.openxmlformats.org/drawingml/2006/main">
            <a:off x="2097651" y="1181100"/>
            <a:ext cx="7996698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49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32759-143F-4273-96F3-F9908A29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90F8B-2237-41F0-83B0-C5D540C2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BC9B8-A8A4-4B63-BA6B-E81C0C45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METADATA PROCESSING CREATES THE DATASET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413E5-FBBA-469C-8E51-68574D46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0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374151"/>
                </a:solidFill>
              </a:defRPr>
            </a:pPr>
            <a:r>
              <a:rPr sz="1050">
                <a:solidFill>
                  <a:srgbClr val="374151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AAF27-2854-4620-8E56-E4580A7C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857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D9CAC-D8D8-427A-9A7C-A4C3AD91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478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1. Discover datasets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E4880-1488-4D60-85A3-8C220711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2885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List Parquet objects in MinIO for meter-data and command-response.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84195-C724-4C22-A5AB-071B9C99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2857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99FED-3084-4BAB-8BC1-B1C4DF02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478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2. Extract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FBEC0-CCEA-4A5B-B429-A16620D1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2885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Read columns, data types, row counts, null counts, and storage paths.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CA6D2-6175-4FD7-89CE-584E6737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2857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B28C4-2A4C-44FE-807A-FE52FB62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3. Generate RDF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117B6-5092-4E27-8B5A-476C77A6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Create RDF triples using the ontology and serialize dataset TTL files.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EEE09-787C-4434-B75F-C6259D81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67150"/>
            <a:ext cx="2857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F4637-360E-4E47-93B9-C4F81A47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0195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4. Load GraphDB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720A3-4652-46EB-809F-E4187AC3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0055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Clear stale triples and reload the current metadata and lineage graph.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DF5E2-8CB1-452B-82A4-878D1786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2857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38A38-C170-4E51-BF94-4458E0B0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195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E123C"/>
                </a:solidFill>
              </a:defRPr>
            </a:pPr>
            <a:r>
              <a:rPr sz="1350" b="1">
                <a:solidFill>
                  <a:srgbClr val="BE123C"/>
                </a:solidFill>
              </a:rPr>
              <a:t>5. Query columns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7E46A-14C4-41AB-B61E-951430E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0055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Use SPARQL to inspect datasets, columns, data types, and lineage changes.</a:t>
            </a:r>
          </a:p>
        </p:txBody>
      </p:sp>
    </p:spTree>
    <p:extLst>
      <p:ext uri="{BB962C8B-B14F-4D97-AF65-F5344CB8AC3E}">
        <p14:creationId xmlns:p14="http://schemas.microsoft.com/office/powerpoint/2010/main" val="1126375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644195-0E23-4148-BC73-C866A59A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BAC80-AB43-499A-9790-CF73AAD4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96389-D9F8-4C45-908A-9B96E553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LINEAGE TRACKING RECORDS THE RUN THAT CHANGED A SCHEMA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9E865-7B32-4CB5-A942-A009A86D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0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374151"/>
                </a:solidFill>
              </a:defRPr>
            </a:pPr>
            <a:r>
              <a:rPr sz="1050">
                <a:solidFill>
                  <a:srgbClr val="374151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44BF3-9D62-460C-9DD1-523B332D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The consumer writes Parquet through the lakehouse writer. That writer emits an OpenLineage event with the output schema. Marquez stores the run history, and the lineage pipeline exports compact schema-change evidence to GraphDB.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460e9aaf5456f"/>
          <a:stretch xmlns:a="http://schemas.openxmlformats.org/drawingml/2006/main"/>
        </p:blipFill>
        <p:spPr>
          <a:xfrm xmlns:a="http://schemas.openxmlformats.org/drawingml/2006/main">
            <a:off x="952500" y="2984643"/>
            <a:ext cx="6096000" cy="7363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3953A-39F7-46C3-92DB-C065BC7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BDECA-90A7-46AF-BD4B-C269111F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GraphDB lineage 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15BF7-0899-4F63-BB81-56E3B6AD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19450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DataCollectionRun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SchemaVersion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SchemaChange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addsColumn / removesColumn / changesColumn</a:t>
            </a:r>
          </a:p>
        </p:txBody>
      </p:sp>
    </p:spTree>
    <p:extLst>
      <p:ext uri="{BB962C8B-B14F-4D97-AF65-F5344CB8AC3E}">
        <p14:creationId xmlns:p14="http://schemas.microsoft.com/office/powerpoint/2010/main" val="919947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BB5F3-22EF-45A2-B595-3E2635AA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3EBE4-BA00-4566-B051-522BD97A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3A69F-6AB4-4727-B553-806C5D66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DEMO PROVES SCHEMA-CHANGE LINEAGE WITH REAL CONSUMER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FBAD8-69B6-47DE-B8F6-04036F1F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0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374151"/>
                </a:solidFill>
              </a:defRPr>
            </a:pPr>
            <a:r>
              <a:rPr sz="1050">
                <a:solidFill>
                  <a:srgbClr val="374151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ED386-CE9B-440D-8C91-9FE4D652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F4DD1-6A8A-4288-ACAD-4CB9EFDF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7151C-86A4-4601-BFB1-EE20F2F7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514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Run the real Kafka consumers.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They write the original meter-data and command-response schemas.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D9DBF-05E3-4CE9-AA11-D3EACD29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F4EDC-9206-4128-8562-DEC26E21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907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Changed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5E24C-CC6A-4C6C-B268-15C43F86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2514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Run demo.run_changed_schema.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It preserves the latest real rows and adds campus context columns.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4C802-13F0-420D-98D5-721ABE73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A5D89-8DD9-41DD-8489-1500A960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2E912-F384-4DF6-A98E-F5646B19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514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Run main.py and query GraphDB.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The graph returns the run ID that added each column.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8C706-A00B-4AD3-8E00-43A8E0D4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Added demo columns: run_location, department, building, demo_run_label, operator_group</a:t>
            </a:r>
          </a:p>
        </p:txBody>
      </p:sp>
    </p:spTree>
    <p:extLst>
      <p:ext uri="{BB962C8B-B14F-4D97-AF65-F5344CB8AC3E}">
        <p14:creationId xmlns:p14="http://schemas.microsoft.com/office/powerpoint/2010/main" val="515191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C844A3-DDFD-4F91-AC52-76C35F1C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ADDA0-B21D-4B79-95A8-B882CC0D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6C4E6-4411-46D2-9934-FD6BE97E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GRAPHDB IDENTIFIES WHICH RUN ADDED EACH COLUMN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028B4-E49D-4D0C-ADB2-2AD5E021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0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374151"/>
                </a:solidFill>
              </a:defRPr>
            </a:pPr>
            <a:r>
              <a:rPr sz="1050">
                <a:solidFill>
                  <a:srgbClr val="374151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60CBE-B587-4753-BA79-32CC75F3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D89AA-D209-4708-B530-534C7F5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02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C3B8B-2515-4896-967D-F1C3B7C4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041E6-D3C7-4A0C-A9FC-998E5403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002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C4789-4772-4DC4-BEEA-E349A35E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A4FD6-93B7-4B39-8BF6-798E18FE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022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Added column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B7AF0-D914-400D-B6B6-59C9CFD9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50F7A-9748-4AD0-84A5-2E9BD2CF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meter-data-pipeline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FE6A6-DAC1-469C-9AB3-3FA70F0C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08044-6846-4F56-9330-A628B19E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OpenLineage run 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3FEB4-CD26-4B65-8274-5B6C7D3B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99057-FADC-4CBF-8407-C81D24A6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run_location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E1EEA-0870-49D0-B31A-8097D528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A15E3-97DA-4CDB-8E7C-CB583E13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meter-data-pipeline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71CC0-94D1-4947-8BA2-83F2F459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FDFB6-1409-4E16-94D5-B7CAA1A0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OpenLineage run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324A9-AE31-44A7-9F5A-E0C04542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828B9-5C0D-497C-8767-EE252095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department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CE19B-2185-42D7-8628-6002163B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E43D7-8823-4D56-B59D-85EAFBB8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meter-data-pipeline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68DDE2-54EF-43A3-BAB1-E406EC5B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147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FC5BC5-AE26-4DAF-A19F-24AF183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8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OpenLineage run 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298D48-2930-4370-A5A7-72100BBA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115ED-E82D-415A-9986-A498E4FB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480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building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AE3648-D5EF-4467-B0A6-7977A823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916246-9D8E-447F-AEDE-8EACD196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command-response-pipeline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640C0-3248-43B4-BD0F-65197B50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853A31-CE23-4DC4-BCF1-DD8449C6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005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OpenLineage run 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EF193-58C4-44CC-BED9-692D403A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1C4FA5-9B84-4BF1-99D6-1A082A98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005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operator_group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9876E5-02EB-438B-9CD4-6E86A94C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4151"/>
                </a:solidFill>
              </a:defRPr>
            </a:pPr>
            <a:r>
              <a:rPr sz="1500">
                <a:solidFill>
                  <a:srgbClr val="374151"/>
                </a:solidFill>
              </a:rPr>
              <a:t>SPARQL pattern: SchemaChange -&gt; observedInRun -&gt; DataCollectionRun -&gt; runId</a:t>
            </a:r>
          </a:p>
        </p:txBody>
      </p:sp>
    </p:spTree>
    <p:extLst>
      <p:ext uri="{BB962C8B-B14F-4D97-AF65-F5344CB8AC3E}">
        <p14:creationId xmlns:p14="http://schemas.microsoft.com/office/powerpoint/2010/main" val="12720603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844101-F483-45FE-BAE0-F82D17B9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C38EA-9732-412F-BF8E-A9DB7C0B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AB9B0-746E-41C3-9AD9-848635AF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NOW LET US MOVE ONTO THE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E94B0-692D-446D-9A6E-FD24A3E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0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374151"/>
                </a:solidFill>
              </a:defRPr>
            </a:pPr>
            <a:r>
              <a:rPr sz="1050">
                <a:solidFill>
                  <a:srgbClr val="374151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E3D55-A1F5-407A-B7C7-0938A023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11827"/>
                </a:solidFill>
              </a:defRPr>
            </a:pPr>
            <a:r>
              <a:rPr sz="2250">
                <a:solidFill>
                  <a:srgbClr val="111827"/>
                </a:solidFill>
              </a:rPr>
              <a:t>We will run the real consumers, add controlled schema changes, reload GraphDB, and query the run that introduced each new column.</a:t>
            </a:r>
          </a:p>
        </p:txBody>
      </p:sp>
    </p:spTree>
    <p:extLst>
      <p:ext uri="{BB962C8B-B14F-4D97-AF65-F5344CB8AC3E}">
        <p14:creationId xmlns:p14="http://schemas.microsoft.com/office/powerpoint/2010/main" val="1924675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835B76-7ACB-4D3B-9557-30D80C64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51E53-A09B-4F04-83C5-3C6C172F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32D09-4DAE-41A1-B3E7-ED1C2DDF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WHAT THE TESTBED DEMONSTRATES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E5AF1-CDF1-4DE9-B2E3-D7B5C8EA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0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374151"/>
                </a:solidFill>
              </a:defRPr>
            </a:pPr>
            <a:r>
              <a:rPr sz="1050">
                <a:solidFill>
                  <a:srgbClr val="374151"/>
                </a:solidFill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A1AEC-2FDC-4F51-8784-155BAABC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The system turns raw pipeline activity into queryable metadata knowledge.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40FD1-C547-450C-BA19-0297B0DD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03BEE-5B71-4E76-BE17-356C9F7C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Datasets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4C781-F629-4225-AD0C-9D0A1598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What datasets exist and where they are stored.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47E59-1A85-4271-89F7-C113B1C6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3DC7C-F1B4-45B8-A948-EA3953EF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051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Columns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4F26E-0CAF-4C6F-A333-F546EAEF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8615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What columns they contain and their data types.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51E0A-E45B-42B1-B898-9B85B2EB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E494B-CF33-4EF4-9F2A-CA3A98B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Processes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410E9-DCE1-492B-8F45-BC483207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Which jobs consume and create datasets.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2F974-F14D-4500-9626-722AE5B4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05251-85F2-47EA-A126-0380C9D1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051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Runs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E9B9A-B528-4653-9D79-22B29288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8615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Which run introduced a schema change.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7FBF0-AE47-418F-A983-DA3F701F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0686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2026-07-13T10:46:12.7150000Z</dcterms:created>
  <dcterms:modified xsi:type="dcterms:W3CDTF">2026-07-13T10:46:12.7150000Z</dcterms:modified>
</coreProperties>
</file>