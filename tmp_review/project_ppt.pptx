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9" r:id="rId4"/>
    <p:sldId id="268" r:id="rId5"/>
    <p:sldId id="271" r:id="rId6"/>
    <p:sldId id="272" r:id="rId7"/>
    <p:sldId id="273" r:id="rId8"/>
    <p:sldId id="269"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6" d="100"/>
          <a:sy n="76" d="100"/>
        </p:scale>
        <p:origin x="92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7/13/2026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859484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7/13/2026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048543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7/13/2026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425633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7/13/2026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43408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7/13/2026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873752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7/13/2026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727140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7/13/2026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608307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7/13/2026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7387851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7/13/2026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419369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7/13/2026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239330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7/13/2026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2058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7/13/2026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7367296"/>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60E52DF2-6802-459B-AC2A-AF976DEB1D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153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C0CFD2A8-4CD8-11D6-4015-842A27CD8E5A}"/>
              </a:ext>
            </a:extLst>
          </p:cNvPr>
          <p:cNvSpPr/>
          <p:nvPr/>
        </p:nvSpPr>
        <p:spPr>
          <a:xfrm>
            <a:off x="2332589" y="4687550"/>
            <a:ext cx="6392968" cy="1446550"/>
          </a:xfrm>
          <a:prstGeom prst="rect">
            <a:avLst/>
          </a:prstGeom>
          <a:noFill/>
        </p:spPr>
        <p:txBody>
          <a:bodyPr wrap="square" lIns="91440" tIns="45720" rIns="91440" bIns="45720">
            <a:spAutoFit/>
          </a:bodyPr>
          <a:lstStyle/>
          <a:p>
            <a:pPr algn="ctr"/>
            <a:r>
              <a:rPr lang="en-US" sz="4400" dirty="0">
                <a:solidFill>
                  <a:schemeClr val="bg1">
                    <a:lumMod val="95000"/>
                  </a:schemeClr>
                </a:solidFill>
              </a:rPr>
              <a:t>Testbed for Metadata</a:t>
            </a:r>
          </a:p>
          <a:p>
            <a:pPr algn="ctr"/>
            <a:r>
              <a:rPr lang="en-US" sz="4400" dirty="0">
                <a:solidFill>
                  <a:schemeClr val="bg1">
                    <a:lumMod val="95000"/>
                  </a:schemeClr>
                </a:solidFill>
              </a:rPr>
              <a:t> Knowledge Graphs</a:t>
            </a:r>
            <a:endParaRPr lang="en-US" sz="4400" b="1" cap="none" spc="0" dirty="0">
              <a:ln w="6600">
                <a:solidFill>
                  <a:schemeClr val="accent2"/>
                </a:solidFill>
                <a:prstDash val="solid"/>
              </a:ln>
              <a:solidFill>
                <a:schemeClr val="bg1">
                  <a:lumMod val="95000"/>
                </a:schemeClr>
              </a:solidFill>
              <a:effectLst>
                <a:outerShdw dist="38100" dir="2700000" algn="tl" rotWithShape="0">
                  <a:schemeClr val="accent2"/>
                </a:outerShdw>
              </a:effectLst>
            </a:endParaRPr>
          </a:p>
        </p:txBody>
      </p:sp>
      <p:pic>
        <p:nvPicPr>
          <p:cNvPr id="24" name="Picture 23">
            <a:extLst>
              <a:ext uri="{FF2B5EF4-FFF2-40B4-BE49-F238E27FC236}">
                <a16:creationId xmlns:a16="http://schemas.microsoft.com/office/drawing/2014/main" id="{8553E0C5-1BBE-F842-8BFF-6B38E7EDA5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5" name="Rectangle 24">
            <a:extLst>
              <a:ext uri="{FF2B5EF4-FFF2-40B4-BE49-F238E27FC236}">
                <a16:creationId xmlns:a16="http://schemas.microsoft.com/office/drawing/2014/main" id="{4BD7A753-DA09-031F-3964-979438795E53}"/>
              </a:ext>
            </a:extLst>
          </p:cNvPr>
          <p:cNvSpPr/>
          <p:nvPr/>
        </p:nvSpPr>
        <p:spPr>
          <a:xfrm>
            <a:off x="8444484" y="5788790"/>
            <a:ext cx="4221584" cy="954107"/>
          </a:xfrm>
          <a:prstGeom prst="rect">
            <a:avLst/>
          </a:prstGeom>
          <a:noFill/>
        </p:spPr>
        <p:txBody>
          <a:bodyPr wrap="square" lIns="91440" tIns="45720" rIns="91440" bIns="45720">
            <a:spAutoFit/>
          </a:bodyPr>
          <a:lstStyle/>
          <a:p>
            <a:pPr algn="ctr"/>
            <a:r>
              <a:rPr lang="en-US" sz="2800" dirty="0">
                <a:ln w="0"/>
                <a:solidFill>
                  <a:schemeClr val="bg2"/>
                </a:solidFill>
              </a:rPr>
              <a:t>Udit Pande</a:t>
            </a:r>
            <a:br>
              <a:rPr lang="en-US" sz="2800" dirty="0">
                <a:ln w="0"/>
                <a:solidFill>
                  <a:schemeClr val="bg2"/>
                </a:solidFill>
              </a:rPr>
            </a:br>
            <a:r>
              <a:rPr lang="en-US" sz="2800" dirty="0">
                <a:ln w="0"/>
                <a:solidFill>
                  <a:schemeClr val="bg2"/>
                </a:solidFill>
              </a:rPr>
              <a:t>Pratyush Jha</a:t>
            </a:r>
            <a:endParaRPr lang="en-US" sz="2800" b="0" cap="none" spc="0" dirty="0">
              <a:ln w="0"/>
              <a:solidFill>
                <a:schemeClr val="bg2"/>
              </a:solidFill>
              <a:effectLst/>
            </a:endParaRPr>
          </a:p>
        </p:txBody>
      </p:sp>
    </p:spTree>
    <p:extLst>
      <p:ext uri="{BB962C8B-B14F-4D97-AF65-F5344CB8AC3E}">
        <p14:creationId xmlns:p14="http://schemas.microsoft.com/office/powerpoint/2010/main" val="1606394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7FA70-313A-C636-F2C8-422BB0C72A81}"/>
              </a:ext>
            </a:extLst>
          </p:cNvPr>
          <p:cNvSpPr>
            <a:spLocks noGrp="1"/>
          </p:cNvSpPr>
          <p:nvPr>
            <p:ph type="title"/>
          </p:nvPr>
        </p:nvSpPr>
        <p:spPr>
          <a:xfrm>
            <a:off x="700633" y="804672"/>
            <a:ext cx="10691265" cy="1307592"/>
          </a:xfrm>
        </p:spPr>
        <p:txBody>
          <a:bodyPr/>
          <a:lstStyle/>
          <a:p>
            <a:r>
              <a:rPr lang="en-US" dirty="0"/>
              <a:t>Problem Statement</a:t>
            </a:r>
            <a:endParaRPr lang="en-DE" dirty="0"/>
          </a:p>
        </p:txBody>
      </p:sp>
      <p:sp>
        <p:nvSpPr>
          <p:cNvPr id="3" name="Content Placeholder 2">
            <a:extLst>
              <a:ext uri="{FF2B5EF4-FFF2-40B4-BE49-F238E27FC236}">
                <a16:creationId xmlns:a16="http://schemas.microsoft.com/office/drawing/2014/main" id="{976977DB-2DC1-7B3D-B7F5-F214ABFF15E2}"/>
              </a:ext>
            </a:extLst>
          </p:cNvPr>
          <p:cNvSpPr>
            <a:spLocks noGrp="1"/>
          </p:cNvSpPr>
          <p:nvPr>
            <p:ph idx="1"/>
          </p:nvPr>
        </p:nvSpPr>
        <p:spPr>
          <a:xfrm>
            <a:off x="750367" y="1645920"/>
            <a:ext cx="11347145" cy="4064508"/>
          </a:xfrm>
        </p:spPr>
        <p:txBody>
          <a:bodyPr>
            <a:noAutofit/>
          </a:bodyPr>
          <a:lstStyle/>
          <a:p>
            <a:r>
              <a:rPr lang="en-DE" sz="2400" b="1" dirty="0"/>
              <a:t>Lack of Centralization:</a:t>
            </a:r>
            <a:r>
              <a:rPr lang="en-DE" sz="2400" dirty="0"/>
              <a:t> </a:t>
            </a:r>
            <a:r>
              <a:rPr lang="en-US" sz="2400" dirty="0"/>
              <a:t>Modern enterprise data lakes lack a unified central repository to handle large volumes of metadata.</a:t>
            </a:r>
            <a:endParaRPr lang="en-DE" sz="2400" dirty="0"/>
          </a:p>
          <a:p>
            <a:r>
              <a:rPr lang="en-DE" sz="2400" b="1" dirty="0"/>
              <a:t>Relational Scaling Bottlenecks:</a:t>
            </a:r>
            <a:r>
              <a:rPr lang="en-DE" sz="2400" dirty="0"/>
              <a:t> Traditional RDBMS struggle to scale and efficiently query complex, dynamic entity relationships.</a:t>
            </a:r>
            <a:endParaRPr lang="en-US" sz="2400" dirty="0"/>
          </a:p>
          <a:p>
            <a:r>
              <a:rPr lang="en-DE" sz="2400" b="1" dirty="0"/>
              <a:t>The Data Lineage Blindspot:</a:t>
            </a:r>
            <a:r>
              <a:rPr lang="en-DE" sz="2400" dirty="0"/>
              <a:t> Without verifiable data history, manually tracking data across pipelines is impossible.</a:t>
            </a:r>
          </a:p>
        </p:txBody>
      </p:sp>
      <p:sp>
        <p:nvSpPr>
          <p:cNvPr id="4" name="TextBox 3">
            <a:extLst>
              <a:ext uri="{FF2B5EF4-FFF2-40B4-BE49-F238E27FC236}">
                <a16:creationId xmlns:a16="http://schemas.microsoft.com/office/drawing/2014/main" id="{194C3FFA-C41D-46F7-E758-3C1BA9A5256E}"/>
              </a:ext>
            </a:extLst>
          </p:cNvPr>
          <p:cNvSpPr txBox="1"/>
          <p:nvPr/>
        </p:nvSpPr>
        <p:spPr>
          <a:xfrm>
            <a:off x="10241280" y="6227064"/>
            <a:ext cx="1150620" cy="374904"/>
          </a:xfrm>
          <a:prstGeom prst="rect">
            <a:avLst/>
          </a:prstGeom>
          <a:noFill/>
        </p:spPr>
        <p:txBody>
          <a:bodyPr wrap="square" rtlCol="0">
            <a:spAutoFit/>
          </a:bodyPr>
          <a:lstStyle/>
          <a:p>
            <a:pPr algn="r"/>
            <a:r>
              <a:rPr lang="en-US" dirty="0"/>
              <a:t>1</a:t>
            </a:r>
            <a:endParaRPr lang="en-DE" dirty="0"/>
          </a:p>
        </p:txBody>
      </p:sp>
    </p:spTree>
    <p:extLst>
      <p:ext uri="{BB962C8B-B14F-4D97-AF65-F5344CB8AC3E}">
        <p14:creationId xmlns:p14="http://schemas.microsoft.com/office/powerpoint/2010/main" val="26517153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6E59F-0758-CEB2-4F1C-6066D025DE70}"/>
              </a:ext>
            </a:extLst>
          </p:cNvPr>
          <p:cNvSpPr>
            <a:spLocks noGrp="1"/>
          </p:cNvSpPr>
          <p:nvPr>
            <p:ph type="title"/>
          </p:nvPr>
        </p:nvSpPr>
        <p:spPr/>
        <p:txBody>
          <a:bodyPr/>
          <a:lstStyle/>
          <a:p>
            <a:r>
              <a:rPr lang="en-US" dirty="0"/>
              <a:t>Project objective</a:t>
            </a:r>
            <a:endParaRPr lang="en-DE" dirty="0"/>
          </a:p>
        </p:txBody>
      </p:sp>
      <p:sp>
        <p:nvSpPr>
          <p:cNvPr id="3" name="Text Placeholder 2">
            <a:extLst>
              <a:ext uri="{FF2B5EF4-FFF2-40B4-BE49-F238E27FC236}">
                <a16:creationId xmlns:a16="http://schemas.microsoft.com/office/drawing/2014/main" id="{1BCBC4C5-FD93-F5C2-5CED-26AE0BD7696D}"/>
              </a:ext>
            </a:extLst>
          </p:cNvPr>
          <p:cNvSpPr>
            <a:spLocks noGrp="1"/>
          </p:cNvSpPr>
          <p:nvPr>
            <p:ph type="body" idx="1"/>
          </p:nvPr>
        </p:nvSpPr>
        <p:spPr>
          <a:xfrm>
            <a:off x="621791" y="1991536"/>
            <a:ext cx="10689335" cy="657225"/>
          </a:xfrm>
        </p:spPr>
        <p:txBody>
          <a:bodyPr>
            <a:noAutofit/>
          </a:bodyPr>
          <a:lstStyle/>
          <a:p>
            <a:endParaRPr lang="en-US" sz="2400" dirty="0"/>
          </a:p>
          <a:p>
            <a:r>
              <a:rPr lang="en-DE" sz="2400" dirty="0"/>
              <a:t>Automatically extract structural metadata, build an interconnected Knowledge Graph, and track end-to-end lineage.</a:t>
            </a:r>
            <a:endParaRPr lang="en-US" sz="2400" dirty="0"/>
          </a:p>
        </p:txBody>
      </p:sp>
      <p:sp>
        <p:nvSpPr>
          <p:cNvPr id="4" name="Content Placeholder 3">
            <a:extLst>
              <a:ext uri="{FF2B5EF4-FFF2-40B4-BE49-F238E27FC236}">
                <a16:creationId xmlns:a16="http://schemas.microsoft.com/office/drawing/2014/main" id="{66D2515B-0F46-D2D1-566A-99D2C9C73ED0}"/>
              </a:ext>
            </a:extLst>
          </p:cNvPr>
          <p:cNvSpPr>
            <a:spLocks noGrp="1"/>
          </p:cNvSpPr>
          <p:nvPr>
            <p:ph sz="half" idx="2"/>
          </p:nvPr>
        </p:nvSpPr>
        <p:spPr>
          <a:xfrm>
            <a:off x="704086" y="2912700"/>
            <a:ext cx="11301986" cy="2842530"/>
          </a:xfrm>
        </p:spPr>
        <p:txBody>
          <a:bodyPr>
            <a:noAutofit/>
          </a:bodyPr>
          <a:lstStyle/>
          <a:p>
            <a:pPr marL="0" indent="0">
              <a:buNone/>
            </a:pPr>
            <a:r>
              <a:rPr lang="en-US" b="1" dirty="0"/>
              <a:t>Main Goals</a:t>
            </a:r>
          </a:p>
          <a:p>
            <a:r>
              <a:rPr lang="en-DE" b="1" dirty="0"/>
              <a:t>Automated Metadata Extraction:</a:t>
            </a:r>
            <a:r>
              <a:rPr lang="en-DE" dirty="0"/>
              <a:t> </a:t>
            </a:r>
            <a:r>
              <a:rPr lang="en-US" dirty="0"/>
              <a:t>A</a:t>
            </a:r>
            <a:r>
              <a:rPr lang="en-DE" dirty="0"/>
              <a:t>uto-harvest processing layer metadata and schemas.</a:t>
            </a:r>
            <a:endParaRPr lang="en-US" dirty="0"/>
          </a:p>
          <a:p>
            <a:endParaRPr lang="en-US" dirty="0"/>
          </a:p>
          <a:p>
            <a:r>
              <a:rPr lang="en-DE" b="1" dirty="0"/>
              <a:t>Knowledge Graph Architecture:</a:t>
            </a:r>
            <a:r>
              <a:rPr lang="en-DE" dirty="0"/>
              <a:t> Semantically map device, data product, and system relationships.</a:t>
            </a:r>
            <a:endParaRPr lang="en-US" dirty="0"/>
          </a:p>
          <a:p>
            <a:endParaRPr lang="en-US" dirty="0"/>
          </a:p>
          <a:p>
            <a:r>
              <a:rPr lang="en-DE" b="1" dirty="0"/>
              <a:t>End-to-End Lineage Tracking:</a:t>
            </a:r>
            <a:r>
              <a:rPr lang="en-DE" dirty="0"/>
              <a:t> Track end-to-end data flow and transformations across all pipelines.</a:t>
            </a:r>
          </a:p>
        </p:txBody>
      </p:sp>
      <p:sp>
        <p:nvSpPr>
          <p:cNvPr id="5" name="TextBox 4">
            <a:extLst>
              <a:ext uri="{FF2B5EF4-FFF2-40B4-BE49-F238E27FC236}">
                <a16:creationId xmlns:a16="http://schemas.microsoft.com/office/drawing/2014/main" id="{D0F37D20-ADDF-D359-D96D-8A77537F6EC9}"/>
              </a:ext>
            </a:extLst>
          </p:cNvPr>
          <p:cNvSpPr txBox="1"/>
          <p:nvPr/>
        </p:nvSpPr>
        <p:spPr>
          <a:xfrm>
            <a:off x="10241280" y="6227064"/>
            <a:ext cx="1150620" cy="374904"/>
          </a:xfrm>
          <a:prstGeom prst="rect">
            <a:avLst/>
          </a:prstGeom>
          <a:noFill/>
        </p:spPr>
        <p:txBody>
          <a:bodyPr wrap="square" rtlCol="0">
            <a:spAutoFit/>
          </a:bodyPr>
          <a:lstStyle/>
          <a:p>
            <a:pPr algn="r"/>
            <a:r>
              <a:rPr lang="en-US" dirty="0"/>
              <a:t>2</a:t>
            </a:r>
            <a:endParaRPr lang="en-DE" dirty="0"/>
          </a:p>
        </p:txBody>
      </p:sp>
    </p:spTree>
    <p:extLst>
      <p:ext uri="{BB962C8B-B14F-4D97-AF65-F5344CB8AC3E}">
        <p14:creationId xmlns:p14="http://schemas.microsoft.com/office/powerpoint/2010/main" val="431750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2F5D8409-B28B-1056-9177-4609B52E5F41}"/>
              </a:ext>
            </a:extLst>
          </p:cNvPr>
          <p:cNvSpPr txBox="1"/>
          <p:nvPr/>
        </p:nvSpPr>
        <p:spPr>
          <a:xfrm>
            <a:off x="10241280" y="6227064"/>
            <a:ext cx="1150620" cy="369332"/>
          </a:xfrm>
          <a:prstGeom prst="rect">
            <a:avLst/>
          </a:prstGeom>
          <a:noFill/>
        </p:spPr>
        <p:txBody>
          <a:bodyPr wrap="square" rtlCol="0">
            <a:spAutoFit/>
          </a:bodyPr>
          <a:lstStyle/>
          <a:p>
            <a:pPr algn="r"/>
            <a:r>
              <a:rPr lang="en-US" dirty="0"/>
              <a:t>4</a:t>
            </a:r>
          </a:p>
        </p:txBody>
      </p:sp>
      <p:pic>
        <p:nvPicPr>
          <p:cNvPr id="7" name="Picture 6" descr="The image depicts a complex metadata knowledge graph architecture, illustrating various components such as data sources, storage layers, metadata extraction, visualization, and different data platforms and tools like Kafka clusters, ontotext, graphDB, data lake, and Marquez.&#10;&#10;AI-generated content may be incorrect.">
            <a:extLst>
              <a:ext uri="{FF2B5EF4-FFF2-40B4-BE49-F238E27FC236}">
                <a16:creationId xmlns:a16="http://schemas.microsoft.com/office/drawing/2014/main" id="{24ADB643-BFE5-EFCB-3B2F-3642BBB2DE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470211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60DFA-4DAD-F475-2829-1A1267F78A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E8BB64-9399-A949-96F1-F2D6712800C6}"/>
              </a:ext>
            </a:extLst>
          </p:cNvPr>
          <p:cNvSpPr>
            <a:spLocks noGrp="1"/>
          </p:cNvSpPr>
          <p:nvPr>
            <p:ph type="title"/>
          </p:nvPr>
        </p:nvSpPr>
        <p:spPr/>
        <p:txBody>
          <a:bodyPr/>
          <a:lstStyle/>
          <a:p>
            <a:r>
              <a:rPr lang="en-US" dirty="0"/>
              <a:t>Metadata processing</a:t>
            </a:r>
            <a:endParaRPr lang="en-DE" dirty="0"/>
          </a:p>
        </p:txBody>
      </p:sp>
      <p:sp>
        <p:nvSpPr>
          <p:cNvPr id="11" name="Content Placeholder 10">
            <a:extLst>
              <a:ext uri="{FF2B5EF4-FFF2-40B4-BE49-F238E27FC236}">
                <a16:creationId xmlns:a16="http://schemas.microsoft.com/office/drawing/2014/main" id="{3370DF15-7DB6-DB99-686D-BF334EBEAF28}"/>
              </a:ext>
            </a:extLst>
          </p:cNvPr>
          <p:cNvSpPr>
            <a:spLocks noGrp="1"/>
          </p:cNvSpPr>
          <p:nvPr>
            <p:ph sz="half" idx="2"/>
          </p:nvPr>
        </p:nvSpPr>
        <p:spPr>
          <a:xfrm>
            <a:off x="704087" y="1577966"/>
            <a:ext cx="10911333" cy="4772033"/>
          </a:xfrm>
        </p:spPr>
        <p:txBody>
          <a:bodyPr numCol="2">
            <a:normAutofit/>
          </a:bodyPr>
          <a:lstStyle/>
          <a:p>
            <a:pPr marL="457200" indent="-457200">
              <a:buFont typeface="+mj-lt"/>
              <a:buAutoNum type="arabicPeriod"/>
            </a:pPr>
            <a:r>
              <a:rPr lang="en-DE" b="1" dirty="0"/>
              <a:t>Dataset Discovery in </a:t>
            </a:r>
            <a:r>
              <a:rPr lang="en-DE" b="1" dirty="0" err="1"/>
              <a:t>MinIO</a:t>
            </a:r>
            <a:endParaRPr lang="en-US" b="1" dirty="0"/>
          </a:p>
          <a:p>
            <a:r>
              <a:rPr lang="en-DE" dirty="0"/>
              <a:t>Automated File Detection</a:t>
            </a:r>
            <a:endParaRPr lang="en-US" dirty="0"/>
          </a:p>
          <a:p>
            <a:r>
              <a:rPr lang="en-DE" dirty="0"/>
              <a:t>Pipeline Registration Trigger</a:t>
            </a:r>
            <a:endParaRPr lang="en-US" dirty="0"/>
          </a:p>
          <a:p>
            <a:pPr marL="0" indent="0">
              <a:buNone/>
            </a:pPr>
            <a:r>
              <a:rPr lang="en-US" b="1" dirty="0"/>
              <a:t>2. </a:t>
            </a:r>
            <a:r>
              <a:rPr lang="en-DE" b="1" dirty="0"/>
              <a:t>Schema &amp; Metadata Extraction</a:t>
            </a:r>
            <a:endParaRPr lang="en-US" b="1" dirty="0"/>
          </a:p>
          <a:p>
            <a:r>
              <a:rPr lang="en-DE" dirty="0"/>
              <a:t>Zero-Overhead Parsing</a:t>
            </a:r>
            <a:endParaRPr lang="en-US" dirty="0"/>
          </a:p>
          <a:p>
            <a:r>
              <a:rPr lang="en-DE" dirty="0"/>
              <a:t>Target Attributes Scoped</a:t>
            </a:r>
            <a:endParaRPr lang="en-US" dirty="0"/>
          </a:p>
          <a:p>
            <a:r>
              <a:rPr lang="en-DE" dirty="0"/>
              <a:t>Profile Consolidation</a:t>
            </a:r>
            <a:endParaRPr lang="en-US" dirty="0"/>
          </a:p>
          <a:p>
            <a:pPr marL="457200" indent="-457200">
              <a:buAutoNum type="arabicPeriod" startAt="3"/>
            </a:pPr>
            <a:endParaRPr lang="en-US" b="1" dirty="0"/>
          </a:p>
          <a:p>
            <a:pPr marL="457200" indent="-457200">
              <a:buAutoNum type="arabicPeriod" startAt="3"/>
            </a:pPr>
            <a:endParaRPr lang="en-US" b="1" dirty="0"/>
          </a:p>
          <a:p>
            <a:pPr marL="457200" indent="-457200">
              <a:buAutoNum type="arabicPeriod" startAt="3"/>
            </a:pPr>
            <a:endParaRPr lang="en-US" b="1" dirty="0"/>
          </a:p>
          <a:p>
            <a:pPr marL="457200" indent="-457200">
              <a:buAutoNum type="arabicPeriod" startAt="3"/>
            </a:pPr>
            <a:r>
              <a:rPr lang="en-US" b="1" dirty="0"/>
              <a:t>RFD generation via ontology</a:t>
            </a:r>
          </a:p>
          <a:p>
            <a:r>
              <a:rPr lang="en-US" dirty="0"/>
              <a:t>Semantic compiling</a:t>
            </a:r>
          </a:p>
          <a:p>
            <a:r>
              <a:rPr lang="en-US" dirty="0"/>
              <a:t>Ontological consolidation</a:t>
            </a:r>
          </a:p>
          <a:p>
            <a:pPr marL="457200" indent="-457200">
              <a:buAutoNum type="arabicPeriod" startAt="4"/>
            </a:pPr>
            <a:r>
              <a:rPr lang="en-US" b="1" dirty="0" err="1"/>
              <a:t>GraphDB</a:t>
            </a:r>
            <a:r>
              <a:rPr lang="en-US" b="1" dirty="0"/>
              <a:t> storage and integration</a:t>
            </a:r>
          </a:p>
          <a:p>
            <a:r>
              <a:rPr lang="en-US" dirty="0"/>
              <a:t>Repository ingestion</a:t>
            </a:r>
          </a:p>
          <a:p>
            <a:r>
              <a:rPr lang="en-US" dirty="0"/>
              <a:t>Semantic mapping execution</a:t>
            </a:r>
            <a:endParaRPr lang="en-DE" dirty="0"/>
          </a:p>
        </p:txBody>
      </p:sp>
      <p:sp>
        <p:nvSpPr>
          <p:cNvPr id="4" name="TextBox 3">
            <a:extLst>
              <a:ext uri="{FF2B5EF4-FFF2-40B4-BE49-F238E27FC236}">
                <a16:creationId xmlns:a16="http://schemas.microsoft.com/office/drawing/2014/main" id="{8916EB6E-5859-3915-5559-81C7430ACD8D}"/>
              </a:ext>
            </a:extLst>
          </p:cNvPr>
          <p:cNvSpPr txBox="1"/>
          <p:nvPr/>
        </p:nvSpPr>
        <p:spPr>
          <a:xfrm>
            <a:off x="10241280" y="6227064"/>
            <a:ext cx="1150620" cy="369332"/>
          </a:xfrm>
          <a:prstGeom prst="rect">
            <a:avLst/>
          </a:prstGeom>
          <a:noFill/>
        </p:spPr>
        <p:txBody>
          <a:bodyPr wrap="square" rtlCol="0">
            <a:spAutoFit/>
          </a:bodyPr>
          <a:lstStyle/>
          <a:p>
            <a:pPr algn="r"/>
            <a:r>
              <a:rPr lang="en-US" dirty="0"/>
              <a:t>3</a:t>
            </a:r>
          </a:p>
        </p:txBody>
      </p:sp>
    </p:spTree>
    <p:extLst>
      <p:ext uri="{BB962C8B-B14F-4D97-AF65-F5344CB8AC3E}">
        <p14:creationId xmlns:p14="http://schemas.microsoft.com/office/powerpoint/2010/main" val="4286349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9BE47-E5D0-0E8B-5C0F-FC230451CC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323D6D-6BA7-7CA1-88FD-2DBFA30454ED}"/>
              </a:ext>
            </a:extLst>
          </p:cNvPr>
          <p:cNvSpPr>
            <a:spLocks noGrp="1"/>
          </p:cNvSpPr>
          <p:nvPr>
            <p:ph type="title"/>
          </p:nvPr>
        </p:nvSpPr>
        <p:spPr>
          <a:xfrm>
            <a:off x="702563" y="738367"/>
            <a:ext cx="10689336" cy="798451"/>
          </a:xfrm>
        </p:spPr>
        <p:txBody>
          <a:bodyPr>
            <a:normAutofit/>
          </a:bodyPr>
          <a:lstStyle/>
          <a:p>
            <a:r>
              <a:rPr lang="en-US" dirty="0"/>
              <a:t>Lineage tracking	</a:t>
            </a:r>
            <a:endParaRPr lang="en-DE" dirty="0"/>
          </a:p>
        </p:txBody>
      </p:sp>
      <p:sp>
        <p:nvSpPr>
          <p:cNvPr id="11" name="Content Placeholder 10">
            <a:extLst>
              <a:ext uri="{FF2B5EF4-FFF2-40B4-BE49-F238E27FC236}">
                <a16:creationId xmlns:a16="http://schemas.microsoft.com/office/drawing/2014/main" id="{46287A4B-7590-4F9C-733A-0A140A6C8B51}"/>
              </a:ext>
            </a:extLst>
          </p:cNvPr>
          <p:cNvSpPr>
            <a:spLocks noGrp="1"/>
          </p:cNvSpPr>
          <p:nvPr>
            <p:ph sz="half" idx="2"/>
          </p:nvPr>
        </p:nvSpPr>
        <p:spPr>
          <a:xfrm>
            <a:off x="704086" y="1443630"/>
            <a:ext cx="10687813" cy="4876623"/>
          </a:xfrm>
        </p:spPr>
        <p:txBody>
          <a:bodyPr numCol="2"/>
          <a:lstStyle/>
          <a:p>
            <a:pPr marL="457200" indent="-457200">
              <a:buFont typeface="+mj-lt"/>
              <a:buAutoNum type="arabicPeriod"/>
            </a:pPr>
            <a:r>
              <a:rPr lang="en-DE" b="1" dirty="0" err="1"/>
              <a:t>OpenLineage</a:t>
            </a:r>
            <a:r>
              <a:rPr lang="en-DE" b="1" dirty="0"/>
              <a:t> Event Capture Framework</a:t>
            </a:r>
            <a:endParaRPr lang="en-US" b="1" dirty="0"/>
          </a:p>
          <a:p>
            <a:r>
              <a:rPr lang="en-US" dirty="0"/>
              <a:t>Automated runtime auditing</a:t>
            </a:r>
          </a:p>
          <a:p>
            <a:r>
              <a:rPr lang="en-US" dirty="0"/>
              <a:t>Logical plan parsing</a:t>
            </a:r>
          </a:p>
          <a:p>
            <a:r>
              <a:rPr lang="en-US" dirty="0"/>
              <a:t>Run-level analytics</a:t>
            </a:r>
          </a:p>
          <a:p>
            <a:pPr marL="0" indent="0">
              <a:buNone/>
            </a:pPr>
            <a:r>
              <a:rPr lang="en-US" b="1" dirty="0"/>
              <a:t>2. </a:t>
            </a:r>
            <a:r>
              <a:rPr lang="en-DE" b="1" dirty="0"/>
              <a:t>Tracked Structural Stages</a:t>
            </a:r>
            <a:endParaRPr lang="en-US" b="1" dirty="0"/>
          </a:p>
          <a:p>
            <a:r>
              <a:rPr lang="en-US" dirty="0"/>
              <a:t>Data Lakehouse ingestion</a:t>
            </a:r>
          </a:p>
          <a:p>
            <a:endParaRPr lang="en-US" dirty="0"/>
          </a:p>
          <a:p>
            <a:endParaRPr lang="en-US" dirty="0"/>
          </a:p>
          <a:p>
            <a:endParaRPr lang="en-US" dirty="0"/>
          </a:p>
          <a:p>
            <a:endParaRPr lang="en-US" dirty="0"/>
          </a:p>
          <a:p>
            <a:r>
              <a:rPr lang="en-US" dirty="0"/>
              <a:t>Metadata pipeline processing</a:t>
            </a:r>
          </a:p>
          <a:p>
            <a:r>
              <a:rPr lang="en-US" dirty="0"/>
              <a:t>Semantic knowledge loading</a:t>
            </a:r>
          </a:p>
          <a:p>
            <a:pPr marL="0" indent="0">
              <a:buNone/>
            </a:pPr>
            <a:r>
              <a:rPr lang="en-US" b="1" dirty="0"/>
              <a:t>3. </a:t>
            </a:r>
            <a:r>
              <a:rPr lang="en-DE" b="1" dirty="0"/>
              <a:t>End-to-End Lineage &amp; Split Routing</a:t>
            </a:r>
            <a:endParaRPr lang="en-US" b="1" dirty="0"/>
          </a:p>
          <a:p>
            <a:r>
              <a:rPr lang="en-US" dirty="0"/>
              <a:t>Lineage Hub</a:t>
            </a:r>
          </a:p>
          <a:p>
            <a:r>
              <a:rPr lang="en-US" dirty="0"/>
              <a:t>The visual workspace</a:t>
            </a:r>
          </a:p>
          <a:p>
            <a:r>
              <a:rPr lang="en-US" dirty="0"/>
              <a:t>The semantic workspace</a:t>
            </a:r>
          </a:p>
        </p:txBody>
      </p:sp>
      <p:sp>
        <p:nvSpPr>
          <p:cNvPr id="4" name="TextBox 3">
            <a:extLst>
              <a:ext uri="{FF2B5EF4-FFF2-40B4-BE49-F238E27FC236}">
                <a16:creationId xmlns:a16="http://schemas.microsoft.com/office/drawing/2014/main" id="{FDB72E48-0117-52FF-7888-BE460AF83C8A}"/>
              </a:ext>
            </a:extLst>
          </p:cNvPr>
          <p:cNvSpPr txBox="1"/>
          <p:nvPr/>
        </p:nvSpPr>
        <p:spPr>
          <a:xfrm>
            <a:off x="10241280" y="6227064"/>
            <a:ext cx="1150620" cy="369332"/>
          </a:xfrm>
          <a:prstGeom prst="rect">
            <a:avLst/>
          </a:prstGeom>
          <a:noFill/>
        </p:spPr>
        <p:txBody>
          <a:bodyPr wrap="square" rtlCol="0">
            <a:spAutoFit/>
          </a:bodyPr>
          <a:lstStyle/>
          <a:p>
            <a:pPr algn="r"/>
            <a:r>
              <a:rPr lang="en-US" dirty="0"/>
              <a:t>3</a:t>
            </a:r>
          </a:p>
        </p:txBody>
      </p:sp>
      <p:pic>
        <p:nvPicPr>
          <p:cNvPr id="3" name="Picture 2" descr="The image appears to be a visual representation of a data management process, with a flowchart or sequence diagram showing a series of commands or tasks related to data handling, including a job or process that is being executed or monitored.&#10;&#10;AI-generated content may be incorrect.">
            <a:extLst>
              <a:ext uri="{FF2B5EF4-FFF2-40B4-BE49-F238E27FC236}">
                <a16:creationId xmlns:a16="http://schemas.microsoft.com/office/drawing/2014/main" id="{5E1A37F7-7F54-1277-B816-D265BA5249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2563" y="4527098"/>
            <a:ext cx="10677257" cy="1289668"/>
          </a:xfrm>
          <a:prstGeom prst="rect">
            <a:avLst/>
          </a:prstGeom>
        </p:spPr>
      </p:pic>
    </p:spTree>
    <p:extLst>
      <p:ext uri="{BB962C8B-B14F-4D97-AF65-F5344CB8AC3E}">
        <p14:creationId xmlns:p14="http://schemas.microsoft.com/office/powerpoint/2010/main" val="929511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C9278-A9EE-CC74-FD41-397A6FF285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19AAAB-85A2-0507-E8A7-1DE79136F05B}"/>
              </a:ext>
            </a:extLst>
          </p:cNvPr>
          <p:cNvSpPr>
            <a:spLocks noGrp="1"/>
          </p:cNvSpPr>
          <p:nvPr>
            <p:ph type="title"/>
          </p:nvPr>
        </p:nvSpPr>
        <p:spPr>
          <a:xfrm>
            <a:off x="702564" y="2931683"/>
            <a:ext cx="10689336" cy="798451"/>
          </a:xfrm>
        </p:spPr>
        <p:txBody>
          <a:bodyPr>
            <a:normAutofit/>
          </a:bodyPr>
          <a:lstStyle/>
          <a:p>
            <a:pPr algn="ctr"/>
            <a:r>
              <a:rPr lang="en-US" dirty="0"/>
              <a:t>Now let us move onto the demonstration</a:t>
            </a:r>
            <a:endParaRPr lang="en-DE" dirty="0"/>
          </a:p>
        </p:txBody>
      </p:sp>
      <p:sp>
        <p:nvSpPr>
          <p:cNvPr id="4" name="TextBox 3">
            <a:extLst>
              <a:ext uri="{FF2B5EF4-FFF2-40B4-BE49-F238E27FC236}">
                <a16:creationId xmlns:a16="http://schemas.microsoft.com/office/drawing/2014/main" id="{E98E3A2E-C466-317A-DC84-F01469C55C61}"/>
              </a:ext>
            </a:extLst>
          </p:cNvPr>
          <p:cNvSpPr txBox="1"/>
          <p:nvPr/>
        </p:nvSpPr>
        <p:spPr>
          <a:xfrm>
            <a:off x="10241280" y="6227064"/>
            <a:ext cx="1150620" cy="369332"/>
          </a:xfrm>
          <a:prstGeom prst="rect">
            <a:avLst/>
          </a:prstGeom>
          <a:noFill/>
        </p:spPr>
        <p:txBody>
          <a:bodyPr wrap="square" rtlCol="0">
            <a:spAutoFit/>
          </a:bodyPr>
          <a:lstStyle/>
          <a:p>
            <a:pPr algn="r"/>
            <a:r>
              <a:rPr lang="en-US" dirty="0"/>
              <a:t>3</a:t>
            </a:r>
          </a:p>
        </p:txBody>
      </p:sp>
    </p:spTree>
    <p:extLst>
      <p:ext uri="{BB962C8B-B14F-4D97-AF65-F5344CB8AC3E}">
        <p14:creationId xmlns:p14="http://schemas.microsoft.com/office/powerpoint/2010/main" val="11969101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ECE72-B2B2-8D0C-E3B6-5FFB547B4E2E}"/>
              </a:ext>
            </a:extLst>
          </p:cNvPr>
          <p:cNvSpPr>
            <a:spLocks noGrp="1"/>
          </p:cNvSpPr>
          <p:nvPr>
            <p:ph type="title"/>
          </p:nvPr>
        </p:nvSpPr>
        <p:spPr>
          <a:xfrm>
            <a:off x="751332" y="3306587"/>
            <a:ext cx="10689336" cy="798451"/>
          </a:xfrm>
        </p:spPr>
        <p:txBody>
          <a:bodyPr/>
          <a:lstStyle/>
          <a:p>
            <a:pPr algn="ctr"/>
            <a:r>
              <a:rPr lang="en-US" dirty="0"/>
              <a:t>Thank You</a:t>
            </a:r>
            <a:endParaRPr lang="en-DE" dirty="0"/>
          </a:p>
        </p:txBody>
      </p:sp>
    </p:spTree>
    <p:extLst>
      <p:ext uri="{BB962C8B-B14F-4D97-AF65-F5344CB8AC3E}">
        <p14:creationId xmlns:p14="http://schemas.microsoft.com/office/powerpoint/2010/main" val="1560193321"/>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emplate>TM03457452[[fn=Celestial]]</Template>
  <TotalTime>10322</TotalTime>
  <Words>231</Words>
  <Application>Microsoft Office PowerPoint</Application>
  <PresentationFormat>Widescreen</PresentationFormat>
  <Paragraphs>58</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Calisto MT</vt:lpstr>
      <vt:lpstr>Univers Condensed</vt:lpstr>
      <vt:lpstr>ChronicleVTI</vt:lpstr>
      <vt:lpstr>PowerPoint Presentation</vt:lpstr>
      <vt:lpstr>Problem Statement</vt:lpstr>
      <vt:lpstr>Project objective</vt:lpstr>
      <vt:lpstr>PowerPoint Presentation</vt:lpstr>
      <vt:lpstr>Metadata processing</vt:lpstr>
      <vt:lpstr>Lineage tracking </vt:lpstr>
      <vt:lpstr>Now let us move onto the demonstration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Pratyush Jha</dc:creator>
  <cp:lastModifiedBy>udit cena</cp:lastModifiedBy>
  <cp:revision>6</cp:revision>
  <dcterms:created xsi:type="dcterms:W3CDTF">2026-05-14T11:59:21Z</dcterms:created>
  <dcterms:modified xsi:type="dcterms:W3CDTF">2026-07-13T10:32:08Z</dcterms:modified>
</cp:coreProperties>
</file>